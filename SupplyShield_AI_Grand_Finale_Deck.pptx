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 b="1">
                <a:solidFill>
                  <a:srgbClr val="00E5FF"/>
                </a:solidFill>
              </a:defRPr>
            </a:pPr>
            <a:r>
              <a:t>◈  HACKATHON: AI FOR PUBLIC GOOD – SUSTAINABLE &amp; RESILIENT SUPPLY CHAINS</a:t>
            </a:r>
          </a:p>
          <a:p>
            <a:pPr>
              <a:spcAft>
                <a:spcPts val="800"/>
              </a:spcAft>
              <a:defRPr sz="5200" b="1">
                <a:solidFill>
                  <a:srgbClr val="FFFFFF"/>
                </a:solidFill>
              </a:defRPr>
            </a:pPr>
            <a:r>
              <a:t>SupplyShield AI</a:t>
            </a:r>
          </a:p>
          <a:p>
            <a:pPr>
              <a:spcAft>
                <a:spcPts val="2400"/>
              </a:spcAft>
              <a:defRPr sz="2200">
                <a:solidFill>
                  <a:srgbClr val="38BDF8"/>
                </a:solidFill>
              </a:defRPr>
            </a:pPr>
            <a:r>
              <a:t>Calibrated Uncertainty Quantification for Enterprise Risk Triage</a:t>
            </a:r>
          </a:p>
          <a:p>
            <a:pPr>
              <a:spcAft>
                <a:spcPts val="3600"/>
              </a:spcAft>
              <a:defRPr sz="1300">
                <a:solidFill>
                  <a:srgbClr val="94A3B8"/>
                </a:solidFill>
              </a:defRPr>
            </a:pPr>
            <a:r>
              <a:t>Adaptive Conformal Inference Architecture (Gibbs &amp; Candès, 2022)  ·  Walmart M5 Retail Evaluation</a:t>
            </a:r>
          </a:p>
          <a:p>
            <a:pPr>
              <a:defRPr sz="1600" b="1">
                <a:solidFill>
                  <a:srgbClr val="C084FC"/>
                </a:solidFill>
              </a:defRPr>
            </a:pPr>
            <a:r>
              <a:t>🏆 Team CodeGalaxy   |   👤 Srishti Suman Gupta   |   🏛️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Structural Flaw in Supply Chain Forecasting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87171"/>
                </a:solidFill>
              </a:defRPr>
            </a:pPr>
            <a:r>
              <a:t>⚠️ The False Confidence Trap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Traditional systems only answer: "What will demand be?"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They completely fail to answer: "How much should I trust this forecast?"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Point forecasts mask deep structural variance, leaving managers blind to degraded reliability.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An inventory forecast of 1,200 units made with high confidence requires a drastically different buffer than 1,200 units under extreme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0E5FF"/>
                </a:solidFill>
              </a:defRPr>
            </a:pPr>
            <a:r>
              <a:t>🚨 Crisis-Era Calibration Failure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During non-stationary demand shocks (e.g., COVID-19 runs, weather anomalies), static exchangeability assumptions break down.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Static models remain confidently wrong, producing dangerously narrow intervals right when volatility peaks.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Result: Catastrophic stockouts of essential goods (food, medical supplies) exactly when vulnerable communities need them most.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Translation Gap: Even when uncertainty exists, raw statistical bounds aren't translated into floor-ready warehouse directives.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POST-FEEDBACK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Rigorous AI Critique &amp; Solution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C084FC"/>
                </a:solidFill>
              </a:defRPr>
            </a:pPr>
            <a:r>
              <a:t>How AI Peer-Review Shaped the Final Architecture</a:t>
            </a:r>
          </a:p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✔  Lack of Product Identity  ➔  </a:t>
            </a:r>
            <a:r>
              <a:rPr b="0">
                <a:solidFill>
                  <a:srgbClr val="CBD5E1"/>
                </a:solidFill>
              </a:rPr>
              <a:t>Branded as SupplyShield AI—transitioning from academic statistical script into an enterprise SaaS triage platform.</a:t>
            </a:r>
          </a:p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✔  Missing Actionability  ➔  </a:t>
            </a:r>
            <a:r>
              <a:rPr b="0">
                <a:solidFill>
                  <a:srgbClr val="CBD5E1"/>
                </a:solidFill>
              </a:rPr>
              <a:t>Engineered the 'Forecast Reliability Score' (0-100) to give non-technical operators instant trust ratings.</a:t>
            </a:r>
          </a:p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✔  Vague Math Claims  ➔  </a:t>
            </a:r>
            <a:r>
              <a:rPr b="0">
                <a:solidFill>
                  <a:srgbClr val="CBD5E1"/>
                </a:solidFill>
              </a:rPr>
              <a:t>Explicitly integrated the Gibbs &amp; Candès (2022) Adaptive Conformal Inference (ACI) update rule for formal rigor.</a:t>
            </a:r>
          </a:p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✔  Academic Dashboard  ➔  </a:t>
            </a:r>
            <a:r>
              <a:rPr b="0">
                <a:solidFill>
                  <a:srgbClr val="CBD5E1"/>
                </a:solidFill>
              </a:rPr>
              <a:t>Redesigned output into an operational 'Risk Command Center' with clear triage tiers and escalation thresholds.</a:t>
            </a:r>
          </a:p>
          <a:p>
            <a:pPr>
              <a:spcAft>
                <a:spcPts val="1200"/>
              </a:spcAft>
              <a:defRPr sz="1500" b="1">
                <a:solidFill>
                  <a:srgbClr val="00E5FF"/>
                </a:solidFill>
              </a:defRPr>
            </a:pPr>
            <a:r>
              <a:t>✔  Public Good Narrative  ➔  </a:t>
            </a:r>
            <a:r>
              <a:rPr b="0">
                <a:solidFill>
                  <a:srgbClr val="CBD5E1"/>
                </a:solidFill>
              </a:rPr>
              <a:t>Connected mathematical calibration directly to essential-goods supply continuity during community emergencies.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CORE TECHNICAL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Adaptive Conformal Inference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38BDF8"/>
                </a:solidFill>
              </a:defRPr>
            </a:pPr>
            <a:r>
              <a:t>1. Base Forecasting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Engine: LightGBM Quantile Regression trained on MAE loss.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Cross-Validation: Rolling-origin time series split to prevent data leakage.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Feature Engineering: Lags, rolling volatility indicators, and demand coefficient of variation (CV &gt; 0.30 regime splits).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0E5FF"/>
                </a:solidFill>
              </a:defRPr>
            </a:pPr>
            <a:r>
              <a:t>2. Adaptive Calibration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Algorithm: Gibbs &amp; Candès (2022) Adaptive Conformal Inference.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Update Rule: α_{t+1} = α_t + γ(α − 1{y_t ∉ Ĉ_t})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Shock Physics: Automatically widens intervals during demand surges and tightens them in stable regimes.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Guarantee: Exact 90% target coverage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C084FC"/>
                </a:solidFill>
              </a:defRPr>
            </a:pPr>
            <a:r>
              <a:t>3. Decision Layer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Newsvendor Coupling: Derives implied σ̂_t directly from ACI interval widths.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Safety Stock: SS_t = z_SL × σ̂_t × √L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Reliability Score: Normalized metric combining coverage error and width.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▪  Automated Triage: Low, Medium, and High risk escalation bands.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NEWSVENDOR INVENTORY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Connecting Uncertainty to Safety Stock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Mathematical Translation into Warehouse Directives</a:t>
            </a:r>
          </a:p>
          <a:p>
            <a:pPr>
              <a:spcAft>
                <a:spcPts val="1400"/>
              </a:spcAft>
              <a:defRPr sz="1500" b="1">
                <a:solidFill>
                  <a:srgbClr val="00E5FF"/>
                </a:solidFill>
              </a:defRPr>
            </a:pPr>
            <a:r>
              <a:t>◈  Eliminating Heuristics: </a:t>
            </a:r>
            <a:r>
              <a:rPr b="0">
                <a:solidFill>
                  <a:srgbClr val="CBD5E1"/>
                </a:solidFill>
              </a:rPr>
              <a:t>Standard supply chains multiply point forecasts by arbitrary rules-of-thumb (e.g., +20% buffer). This over-orders during calm periods and under-orders during crises.</a:t>
            </a:r>
          </a:p>
          <a:p>
            <a:pPr>
              <a:spcAft>
                <a:spcPts val="1400"/>
              </a:spcAft>
              <a:defRPr sz="1500" b="1">
                <a:solidFill>
                  <a:srgbClr val="00E5FF"/>
                </a:solidFill>
              </a:defRPr>
            </a:pPr>
            <a:r>
              <a:t>◈  Extracting Implied Volatility: </a:t>
            </a:r>
            <a:r>
              <a:rPr b="0">
                <a:solidFill>
                  <a:srgbClr val="CBD5E1"/>
                </a:solidFill>
              </a:rPr>
              <a:t>Given an ACI 90% prediction interval [L_t, U_t], SupplyShield derives the exact empirical standard deviation without distributional assumptions:  σ̂_t = (U_t − L_t) / (2 × 1.645)</a:t>
            </a:r>
          </a:p>
          <a:p>
            <a:pPr>
              <a:spcAft>
                <a:spcPts val="1400"/>
              </a:spcAft>
              <a:defRPr sz="1500" b="1">
                <a:solidFill>
                  <a:srgbClr val="00E5FF"/>
                </a:solidFill>
              </a:defRPr>
            </a:pPr>
            <a:r>
              <a:t>◈  Newsvendor Safety Stock Formula: </a:t>
            </a:r>
            <a:r>
              <a:rPr b="0">
                <a:solidFill>
                  <a:srgbClr val="CBD5E1"/>
                </a:solidFill>
              </a:rPr>
              <a:t>Couples interval spread directly to lead time (L) and target service level (z_SL):  SS_t = z_SL × σ̂_t × √L</a:t>
            </a:r>
          </a:p>
          <a:p>
            <a:pPr>
              <a:spcAft>
                <a:spcPts val="1400"/>
              </a:spcAft>
              <a:defRPr sz="1500" b="1">
                <a:solidFill>
                  <a:srgbClr val="00E5FF"/>
                </a:solidFill>
              </a:defRPr>
            </a:pPr>
            <a:r>
              <a:t>◈  Capital &amp; Continuity Optimization: </a:t>
            </a:r>
            <a:r>
              <a:rPr b="0">
                <a:solidFill>
                  <a:srgbClr val="CBD5E1"/>
                </a:solidFill>
              </a:rPr>
              <a:t>Mathematically guarantees target service levels while freeing capital trapped in redundant static safety stock.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Empirical Evaluation &amp; Walmart M5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</a:defRPr>
            </a:pPr>
            <a:r>
              <a:t>90.9%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VOLATILE COVERAGE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Target: 90.0% · Gibbs-Candès ACI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+66.7%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STOCKOUT REDUCTION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vs Quantile Regression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84FC"/>
                </a:solidFill>
              </a:defRPr>
            </a:pPr>
            <a:r>
              <a:t>+59.5%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CAPITAL RELEASED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Excess inventory freed vs static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2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Rigorous Evaluation Across 30,490 SKUs (2011–2016)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 Volatile Regime Superiority: While static Quantile Regression (94.0%) and Static Conformal Prediction (94.1%) severely over-cover and hoard expensive excess inventory, ACI precisely adapts to 90.9%.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 Underestimation Audit Pass: Verified zero systematic underestimation during extreme demand shocks.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 Generalizability: Evaluated identically on Walmart M5 Retail and DataCo Smart Supply Chain (18k+ records), proving robust multi-domain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LIVE TRIAGE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Enterprise Risk Command Center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38BDF8"/>
                </a:solidFill>
              </a:defRPr>
            </a:pPr>
            <a:r>
              <a:t>🖥️ Executive SaaS Interface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Built with Streamlit, LightGBM, MAPIE, &amp; Scikit-Learn.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Silicon Valley Aesthetics: Deep obsidian mesh styling, Space Grotesk typography, and glassmorphism Bento cards.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Interactive Decision Table: Live multiselect filtering across High, Medium, and Low risk tiers.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Automated Escalation Flags: Instantly highlights 'Escalate to Procurement' for volatile SKUs prior to stockouts.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0E5FF"/>
                </a:solidFill>
              </a:defRPr>
            </a:pPr>
            <a:r>
              <a:t>📊 Scientific Visualizations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Calibration Evidence Tab: Displays real-time empirical coverage comparisons and interval width histograms.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Adaptive α Trajectory: Visualizes exact Gibbs-Candès step adjustments step-by-step during demand surges.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SKU Explorer: Deep dive into individual SKU forecast intervals, reliability scores, and inventory simulation impact.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▪  1-Click Cloud Deployment: Fully dockerized and ready for live hosting on Streamlit Community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◈  GRAND FINALE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Public Good Impact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7135" cy="43891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9235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Protecting Communities When Crises Strike</a:t>
            </a:r>
          </a:p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</a:defRPr>
            </a:pPr>
            <a:r>
              <a:t>🏆  Domain-Agnostic Layer: </a:t>
            </a:r>
            <a:r>
              <a:rPr b="0">
                <a:solidFill>
                  <a:srgbClr val="CBD5E1"/>
                </a:solidFill>
              </a:rPr>
              <a:t>Organizations can wrap SupplyShield AI directly on top of existing forecasting models without retraining, upgrading overconfident outputs into honest ones.</a:t>
            </a:r>
          </a:p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</a:defRPr>
            </a:pPr>
            <a:r>
              <a:t>🏆  Preventing Essential Stockouts: </a:t>
            </a:r>
            <a:r>
              <a:rPr b="0">
                <a:solidFill>
                  <a:srgbClr val="CBD5E1"/>
                </a:solidFill>
              </a:rPr>
              <a:t>Ensures continuous supply of critical food, medicine, and emergency supplies during extreme weather and pandemic surges.</a:t>
            </a:r>
          </a:p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</a:defRPr>
            </a:pPr>
            <a:r>
              <a:t>🏆  Low Cost, Asymmetric Return: </a:t>
            </a:r>
            <a:r>
              <a:rPr b="0">
                <a:solidFill>
                  <a:srgbClr val="CBD5E1"/>
                </a:solidFill>
              </a:rPr>
              <a:t>Requires minimal computational overhead while delivering massive operational and societal resilience.</a:t>
            </a:r>
          </a:p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</a:defRPr>
            </a:pPr>
            <a:r>
              <a:t>🏆  Ready for Scale: </a:t>
            </a:r>
            <a:r>
              <a:rPr b="0">
                <a:solidFill>
                  <a:srgbClr val="CBD5E1"/>
                </a:solidFill>
              </a:rPr>
              <a:t>Proven on benchmark datasets, scientifically calibrated, and operationally deployed.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